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519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1417320"/>
            <a:ext cx="109728" cy="1737360"/>
          </a:xfrm>
          <a:prstGeom prst="rect">
            <a:avLst/>
          </a:prstGeom>
          <a:solidFill>
            <a:srgbClr val="1F4FD8"/>
          </a:solidFill>
          <a:ln w="12700">
            <a:solidFill>
              <a:srgbClr val="1F4FD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68680" y="137160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Block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868680" y="21945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9D1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Buyer side of a vehicle auction platform — implementation so far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68680" y="274320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93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19 + Vite + CSS Modules   ·   ASP.NET Core 9 minimal API   ·   in-memory data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68680" y="44805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3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OPENLANE take-home · Mahnaz Kamran · September 2026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1F4F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 AND SCOPE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5191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we set out to build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475488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3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Block · buyer-side auction prototype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48640" y="1325880"/>
            <a:ext cx="2606040" cy="3154680"/>
          </a:xfrm>
          <a:prstGeom prst="rect">
            <a:avLst/>
          </a:prstGeom>
          <a:solidFill>
            <a:srgbClr val="FFFFFF"/>
          </a:solidFill>
          <a:ln w="9525">
            <a:solidFill>
              <a:srgbClr val="DFE3E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325880"/>
            <a:ext cx="64008" cy="3154680"/>
          </a:xfrm>
          <a:prstGeom prst="rect">
            <a:avLst/>
          </a:prstGeom>
          <a:solidFill>
            <a:srgbClr val="1F4FD8"/>
          </a:solidFill>
          <a:ln w="12700">
            <a:solidFill>
              <a:srgbClr val="1F4FD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1435608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51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brief asked for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749808" y="1737360"/>
            <a:ext cx="22860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 and search 200 dealer-listed vehicles</a:t>
            </a:r>
            <a:endParaRPr lang="en-US" sz="10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Detail view: specs, condition, damage, dealership, photos</a:t>
            </a:r>
            <a:endParaRPr lang="en-US" sz="10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bid flow with visible updated state</a:t>
            </a:r>
            <a:endParaRPr lang="en-US" sz="10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Usable on desktop and mobile</a:t>
            </a:r>
            <a:endParaRPr lang="en-US" sz="10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Clone-and-run README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73552" y="1325880"/>
            <a:ext cx="2606040" cy="3154680"/>
          </a:xfrm>
          <a:prstGeom prst="rect">
            <a:avLst/>
          </a:prstGeom>
          <a:solidFill>
            <a:srgbClr val="FFFFFF"/>
          </a:solidFill>
          <a:ln w="9525">
            <a:solidFill>
              <a:srgbClr val="DFE3E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273552" y="1325880"/>
            <a:ext cx="64008" cy="3154680"/>
          </a:xfrm>
          <a:prstGeom prst="rect">
            <a:avLst/>
          </a:prstGeom>
          <a:solidFill>
            <a:srgbClr val="0F7B4F"/>
          </a:solidFill>
          <a:ln w="12700">
            <a:solidFill>
              <a:srgbClr val="0F7B4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474720" y="1435608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51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chose to build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3474720" y="1737360"/>
            <a:ext cx="22860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Full-stack: rules live on the server, not in the browser</a:t>
            </a:r>
            <a:endParaRPr lang="en-US" sz="10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/ upcoming / ended auctions with real countdowns</a:t>
            </a:r>
            <a:endParaRPr lang="en-US" sz="10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Reserve status and title warnings as first-class signals</a:t>
            </a:r>
            <a:endParaRPr lang="en-US" sz="10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High-bidder / outbid / won standing per buyer</a:t>
            </a:r>
            <a:endParaRPr lang="en-US" sz="10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 range, top-5 most-bid, seven sort orders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998464" y="1325880"/>
            <a:ext cx="2606040" cy="3154680"/>
          </a:xfrm>
          <a:prstGeom prst="rect">
            <a:avLst/>
          </a:prstGeom>
          <a:solidFill>
            <a:srgbClr val="FFFFFF"/>
          </a:solidFill>
          <a:ln w="9525">
            <a:solidFill>
              <a:srgbClr val="DFE3E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998464" y="1325880"/>
            <a:ext cx="64008" cy="3154680"/>
          </a:xfrm>
          <a:prstGeom prst="rect">
            <a:avLst/>
          </a:prstGeom>
          <a:solidFill>
            <a:srgbClr val="9A5B00"/>
          </a:solidFill>
          <a:ln w="12700">
            <a:solidFill>
              <a:srgbClr val="9A5B0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199632" y="1435608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51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Deliberately left out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6199632" y="1737360"/>
            <a:ext cx="22860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Registration and password reset (accounts are seeded)</a:t>
            </a:r>
            <a:endParaRPr lang="en-US" sz="10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Persistence across restarts</a:t>
            </a:r>
            <a:endParaRPr lang="en-US" sz="10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Seller tools, checkout, payments</a:t>
            </a:r>
            <a:endParaRPr lang="en-US" sz="10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Proxy bidding, watchlists, push</a:t>
            </a:r>
            <a:endParaRPr lang="en-US" sz="10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Anything past the 3–4 h timebox without a product reason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1F4F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5191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Two processes, one origin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475488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3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Block · buyer-side auction prototype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48640" y="1325880"/>
            <a:ext cx="3383280" cy="3063240"/>
          </a:xfrm>
          <a:prstGeom prst="rect">
            <a:avLst/>
          </a:prstGeom>
          <a:solidFill>
            <a:srgbClr val="FFFFFF"/>
          </a:solidFill>
          <a:ln w="9525">
            <a:solidFill>
              <a:srgbClr val="DFE3E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325880"/>
            <a:ext cx="3383280" cy="384048"/>
          </a:xfrm>
          <a:prstGeom prst="rect">
            <a:avLst/>
          </a:prstGeom>
          <a:solidFill>
            <a:srgbClr val="E7EDFC"/>
          </a:solidFill>
          <a:ln w="12700">
            <a:solidFill>
              <a:srgbClr val="E7EDF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1325880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4F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client/  React 19 · Vite · TypeScript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685800" y="1810512"/>
            <a:ext cx="315468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950" b="1" dirty="0">
                <a:solidFill>
                  <a:srgbClr val="151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pages/</a:t>
            </a:r>
            <a:pPr indent="0" marL="0">
              <a:spcAft>
                <a:spcPts val="500"/>
              </a:spcAft>
              <a:buNone/>
            </a:pPr>
            <a:r>
              <a:rPr lang="en-US" sz="95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InventoryPage (all state in URL), VehicleDetailPage</a:t>
            </a:r>
            <a:endParaRPr lang="en-US" sz="9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950" b="1" dirty="0">
                <a:solidFill>
                  <a:srgbClr val="151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components/</a:t>
            </a:r>
            <a:pPr indent="0" marL="0">
              <a:spcAft>
                <a:spcPts val="500"/>
              </a:spcAft>
              <a:buNone/>
            </a:pPr>
            <a:r>
              <a:rPr lang="en-US" sz="95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VehicleCard, Filters, PriceRange, BidPanel, Gallery, ConditionCard, BidHistory …</a:t>
            </a:r>
            <a:endParaRPr lang="en-US" sz="9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950" b="1" dirty="0">
                <a:solidFill>
                  <a:srgbClr val="151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api/</a:t>
            </a:r>
            <a:pPr indent="0" marL="0">
              <a:spcAft>
                <a:spcPts val="500"/>
              </a:spcAft>
              <a:buNone/>
            </a:pPr>
            <a:r>
              <a:rPr lang="en-US" sz="95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typed fetch client, TanStack Query hooks + mutations</a:t>
            </a:r>
            <a:endParaRPr lang="en-US" sz="9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950" b="1" dirty="0">
                <a:solidFill>
                  <a:srgbClr val="151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lib/</a:t>
            </a:r>
            <a:pPr indent="0" marL="0">
              <a:spcAft>
                <a:spcPts val="500"/>
              </a:spcAft>
              <a:buNone/>
            </a:pPr>
            <a:r>
              <a:rPr lang="en-US" sz="95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en-CA formatting, client mirror of bid rules, buyer id</a:t>
            </a:r>
            <a:endParaRPr lang="en-US" sz="9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950" b="1" dirty="0">
                <a:solidFill>
                  <a:srgbClr val="151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styles/</a:t>
            </a:r>
            <a:pPr indent="0" marL="0">
              <a:spcAft>
                <a:spcPts val="500"/>
              </a:spcAft>
              <a:buNone/>
            </a:pPr>
            <a:r>
              <a:rPr lang="en-US" sz="95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tokens.css + CSS Modules per component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4069080" y="2514600"/>
            <a:ext cx="1005840" cy="411480"/>
          </a:xfrm>
          <a:prstGeom prst="rightArrow">
            <a:avLst/>
          </a:prstGeom>
          <a:solidFill>
            <a:srgbClr val="1F4FD8"/>
          </a:solidFill>
          <a:ln w="12700">
            <a:solidFill>
              <a:srgbClr val="1F4FD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931920" y="297180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/api via Vite proxy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HttpOnly session cookie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5212080" y="1325880"/>
            <a:ext cx="3383280" cy="3063240"/>
          </a:xfrm>
          <a:prstGeom prst="rect">
            <a:avLst/>
          </a:prstGeom>
          <a:solidFill>
            <a:srgbClr val="FFFFFF"/>
          </a:solidFill>
          <a:ln w="9525">
            <a:solidFill>
              <a:srgbClr val="DFE3E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212080" y="1325880"/>
            <a:ext cx="3383280" cy="384048"/>
          </a:xfrm>
          <a:prstGeom prst="rect">
            <a:avLst/>
          </a:prstGeom>
          <a:solidFill>
            <a:srgbClr val="E3F4EC"/>
          </a:solidFill>
          <a:ln w="12700">
            <a:solidFill>
              <a:srgbClr val="E3F4E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349240" y="1325880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7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server/  ASP.NET Core 9 minimal API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5349240" y="1810512"/>
            <a:ext cx="315468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950" b="1" dirty="0">
                <a:solidFill>
                  <a:srgbClr val="151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Domain/</a:t>
            </a:r>
            <a:pPr indent="0" marL="0">
              <a:spcAft>
                <a:spcPts val="500"/>
              </a:spcAft>
              <a:buNone/>
            </a:pPr>
            <a:r>
              <a:rPr lang="en-US" sz="95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BiddingRules (pure), AuctionClock (TimeProvider), AuctionLedger</a:t>
            </a:r>
            <a:endParaRPr lang="en-US" sz="9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950" b="1" dirty="0">
                <a:solidFill>
                  <a:srgbClr val="151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Data/</a:t>
            </a:r>
            <a:pPr indent="0" marL="0">
              <a:spcAft>
                <a:spcPts val="500"/>
              </a:spcAft>
              <a:buNone/>
            </a:pPr>
            <a:r>
              <a:rPr lang="en-US" sz="95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VehicleRepository (vehicles.json), BidStore (per-vehicle lock), VehicleQuery</a:t>
            </a:r>
            <a:endParaRPr lang="en-US" sz="9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950" b="1" dirty="0">
                <a:solidFill>
                  <a:srgbClr val="151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Endpoints/</a:t>
            </a:r>
            <a:pPr indent="0" marL="0">
              <a:spcAft>
                <a:spcPts val="500"/>
              </a:spcAft>
              <a:buNone/>
            </a:pPr>
            <a:r>
              <a:rPr lang="en-US" sz="95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GET vehicles · GET vehicle · POST bids · POST buy-now</a:t>
            </a:r>
            <a:endParaRPr lang="en-US" sz="9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950" b="1" dirty="0">
                <a:solidFill>
                  <a:srgbClr val="151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Contracts/</a:t>
            </a:r>
            <a:pPr indent="0" marL="0">
              <a:spcAft>
                <a:spcPts val="500"/>
              </a:spcAft>
              <a:buNone/>
            </a:pPr>
            <a:r>
              <a:rPr lang="en-US" sz="95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DTOs, mapper, 409 BidRejected with fresh minimum</a:t>
            </a:r>
            <a:endParaRPr lang="en-US" sz="9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950" b="1" dirty="0">
                <a:solidFill>
                  <a:srgbClr val="151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Tests/</a:t>
            </a:r>
            <a:pPr indent="0" marL="0">
              <a:spcAft>
                <a:spcPts val="500"/>
              </a:spcAft>
              <a:buNone/>
            </a:pPr>
            <a:r>
              <a:rPr lang="en-US" sz="95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34 xUnit incl. a 50-way concurrent bidding race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1F4F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BIDDING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5191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How a bid works, using lot A-0043 from the data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475488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3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Block · buyer-side auction prototype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48640" y="1280160"/>
            <a:ext cx="3063240" cy="3246120"/>
          </a:xfrm>
          <a:prstGeom prst="rect">
            <a:avLst/>
          </a:prstGeom>
          <a:solidFill>
            <a:srgbClr val="15191F"/>
          </a:solidFill>
          <a:ln w="12700">
            <a:solidFill>
              <a:srgbClr val="15191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13232" y="135331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9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data/vehicles.json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713232" y="1645920"/>
            <a:ext cx="27889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9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"lot": "A-0043"</a:t>
            </a:r>
            <a:endParaRPr lang="en-US" sz="9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"year": 2023, "make": "Ford",</a:t>
            </a:r>
            <a:endParaRPr lang="en-US" sz="9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"model": "Bronco", "trim": "Big Bend"</a:t>
            </a:r>
            <a:endParaRPr lang="en-US" sz="9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50" dirty="0">
                <a:solidFill>
                  <a:srgbClr val="C9D1D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"starting_bid": 14500</a:t>
            </a:r>
            <a:endParaRPr lang="en-US" sz="9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50" b="1" dirty="0">
                <a:solidFill>
                  <a:srgbClr val="7FB3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"current_bid": 22800</a:t>
            </a:r>
            <a:endParaRPr lang="en-US" sz="9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50" dirty="0">
                <a:solidFill>
                  <a:srgbClr val="C9D1D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"bid_count": 16</a:t>
            </a:r>
            <a:endParaRPr lang="en-US" sz="9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50" b="1" dirty="0">
                <a:solidFill>
                  <a:srgbClr val="F5C3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"reserve_price": 25000</a:t>
            </a:r>
            <a:endParaRPr lang="en-US" sz="9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50" dirty="0">
                <a:solidFill>
                  <a:srgbClr val="C9D1D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"buy_now_price": null</a:t>
            </a:r>
            <a:endParaRPr lang="en-US" sz="9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50" dirty="0">
                <a:solidFill>
                  <a:srgbClr val="C9D1D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"auction_start": "2026-04-05T14:00"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713232" y="4069080"/>
            <a:ext cx="2788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8A93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Synthetic date → shifted onto [now−4d, now+3d], 72 h window → Live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3794760" y="1280160"/>
            <a:ext cx="480060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DFE3E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794760" y="1280160"/>
            <a:ext cx="64008" cy="475488"/>
          </a:xfrm>
          <a:prstGeom prst="rect">
            <a:avLst/>
          </a:prstGeom>
          <a:solidFill>
            <a:srgbClr val="1F4FD8"/>
          </a:solidFill>
          <a:ln w="12700">
            <a:solidFill>
              <a:srgbClr val="1F4FD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977640" y="1280160"/>
            <a:ext cx="1234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51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Increment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5212080" y="1280160"/>
            <a:ext cx="777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F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$500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035040" y="1280160"/>
            <a:ext cx="2468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bid is in the $10k–$50k band ($250 &lt;10k, $1,000 ≥50k)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3794760" y="1828800"/>
            <a:ext cx="480060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DFE3E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794760" y="1828800"/>
            <a:ext cx="64008" cy="475488"/>
          </a:xfrm>
          <a:prstGeom prst="rect">
            <a:avLst/>
          </a:prstGeom>
          <a:solidFill>
            <a:srgbClr val="1F4FD8"/>
          </a:solidFill>
          <a:ln w="12700">
            <a:solidFill>
              <a:srgbClr val="1F4FD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977640" y="1828800"/>
            <a:ext cx="1234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51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Minimum next bid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5212080" y="1828800"/>
            <a:ext cx="777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F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$23,300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035040" y="1828800"/>
            <a:ext cx="2468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$22,800 + $500. Input defaults to it; chips offer $23,300 / $23,800 / $24,300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794760" y="2377440"/>
            <a:ext cx="480060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DFE3E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794760" y="2377440"/>
            <a:ext cx="64008" cy="475488"/>
          </a:xfrm>
          <a:prstGeom prst="rect">
            <a:avLst/>
          </a:prstGeom>
          <a:solidFill>
            <a:srgbClr val="9A5B00"/>
          </a:solidFill>
          <a:ln w="12700">
            <a:solidFill>
              <a:srgbClr val="9A5B0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977640" y="2377440"/>
            <a:ext cx="1234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51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Reserve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5212080" y="2377440"/>
            <a:ext cx="777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A5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met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035040" y="2377440"/>
            <a:ext cx="2468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$22,800 &lt; $25,000 → shown on card and panel. A bid of $25,000 flips it to 'Reserve met'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3794760" y="2926080"/>
            <a:ext cx="480060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DFE3E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794760" y="2926080"/>
            <a:ext cx="64008" cy="475488"/>
          </a:xfrm>
          <a:prstGeom prst="rect">
            <a:avLst/>
          </a:prstGeom>
          <a:solidFill>
            <a:srgbClr val="0F7B4F"/>
          </a:solidFill>
          <a:ln w="12700">
            <a:solidFill>
              <a:srgbClr val="0F7B4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977640" y="2926080"/>
            <a:ext cx="1234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51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Bid count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5212080" y="2926080"/>
            <a:ext cx="777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→ 17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035040" y="2926080"/>
            <a:ext cx="2468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seeded bids become one summary row; your bid is recorded individually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3794760" y="3474720"/>
            <a:ext cx="480060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DFE3E8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794760" y="3474720"/>
            <a:ext cx="64008" cy="475488"/>
          </a:xfrm>
          <a:prstGeom prst="rect">
            <a:avLst/>
          </a:prstGeom>
          <a:solidFill>
            <a:srgbClr val="B42318"/>
          </a:solidFill>
          <a:ln w="12700">
            <a:solidFill>
              <a:srgbClr val="B4231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977640" y="3474720"/>
            <a:ext cx="1234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51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Rejected examples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5212080" y="3474720"/>
            <a:ext cx="777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423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409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6035040" y="3474720"/>
            <a:ext cx="2468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$23,000 below minimum · $23,400 off increment · same buyer twice · not Live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3794760" y="4069080"/>
            <a:ext cx="4800600" cy="457200"/>
          </a:xfrm>
          <a:prstGeom prst="rect">
            <a:avLst/>
          </a:prstGeom>
          <a:solidFill>
            <a:srgbClr val="E7EDFC"/>
          </a:solidFill>
          <a:ln w="12700">
            <a:solidFill>
              <a:srgbClr val="E7EDF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931920" y="406908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51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Path: </a:t>
            </a:r>
            <a:pPr indent="0" marL="0">
              <a:buNone/>
            </a:pPr>
            <a:r>
              <a:rPr lang="en-US" sz="85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 or tap → validate locally → Review → Confirm → POST /bids with X-Buyer-Id → per-vehicle lock → BiddingRules → 201 (you lead) or 409 with the fresh minimum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1F4F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5191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Authentication: cookie sessions, seeded users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475488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3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Block · buyer-side auction prototype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48640" y="1353312"/>
            <a:ext cx="384048" cy="384048"/>
          </a:xfrm>
          <a:prstGeom prst="ellipse">
            <a:avLst/>
          </a:prstGeom>
          <a:solidFill>
            <a:srgbClr val="1F4FD8"/>
          </a:solidFill>
          <a:ln w="12700">
            <a:solidFill>
              <a:srgbClr val="1F4FD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13533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051560" y="1280160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51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 in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1051560" y="1499616"/>
            <a:ext cx="3886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/api/auth/login {username, password}. UserStore verifies against a PBKDF2 hash (ASP.NET PasswordHasher, per-user salt, constant time).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548640" y="1956816"/>
            <a:ext cx="384048" cy="384048"/>
          </a:xfrm>
          <a:prstGeom prst="ellipse">
            <a:avLst/>
          </a:prstGeom>
          <a:solidFill>
            <a:srgbClr val="1F4FD8"/>
          </a:solidFill>
          <a:ln w="12700">
            <a:solidFill>
              <a:srgbClr val="1F4FD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0" y="19568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051560" y="1883664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51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cookie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1051560" y="2103120"/>
            <a:ext cx="3886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issues theblock.session — HttpOnly, SameSite=Lax, 7-day sliding. The client never sees a token.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548640" y="2560320"/>
            <a:ext cx="384048" cy="384048"/>
          </a:xfrm>
          <a:prstGeom prst="ellipse">
            <a:avLst/>
          </a:prstGeom>
          <a:solidFill>
            <a:srgbClr val="1F4FD8"/>
          </a:solidFill>
          <a:ln w="12700">
            <a:solidFill>
              <a:srgbClr val="1F4FD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0" y="2560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051560" y="2487168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51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request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1051560" y="2706624"/>
            <a:ext cx="3886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Browser sends the cookie automatically (same origin via Vite proxy). Buyer id = NameIdentifier claim.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548640" y="3163824"/>
            <a:ext cx="384048" cy="384048"/>
          </a:xfrm>
          <a:prstGeom prst="ellipse">
            <a:avLst/>
          </a:prstGeom>
          <a:solidFill>
            <a:srgbClr val="1F4FD8"/>
          </a:solidFill>
          <a:ln w="12700">
            <a:solidFill>
              <a:srgbClr val="1F4FD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" y="31638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051560" y="3090672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51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Bidding gated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1051560" y="3310128"/>
            <a:ext cx="3886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/bids and /buy-now RequireAuthorization → 401 for anonymous (no redirects). Browsing stays open.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548640" y="3767328"/>
            <a:ext cx="384048" cy="384048"/>
          </a:xfrm>
          <a:prstGeom prst="ellipse">
            <a:avLst/>
          </a:prstGeom>
          <a:solidFill>
            <a:srgbClr val="1F4FD8"/>
          </a:solidFill>
          <a:ln w="12700">
            <a:solidFill>
              <a:srgbClr val="1F4FD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48640" y="37673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1051560" y="3694176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51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 switch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1051560" y="3913632"/>
            <a:ext cx="3886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Logout clears the cookie; the client clears its query cache so every 'you' indicator re-renders for the new user.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5257800" y="1280160"/>
            <a:ext cx="3337560" cy="1417320"/>
          </a:xfrm>
          <a:prstGeom prst="rect">
            <a:avLst/>
          </a:prstGeom>
          <a:solidFill>
            <a:srgbClr val="E3F4EC"/>
          </a:solidFill>
          <a:ln w="12700">
            <a:solidFill>
              <a:srgbClr val="E3F4E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413248" y="1353312"/>
            <a:ext cx="3063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7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Unchanged when auth was added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5413248" y="1609344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850" dirty="0">
                <a:solidFill>
                  <a:srgbClr val="151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BiddingRules, AuctionLedger, BidStore lock, status mapper</a:t>
            </a:r>
            <a:endParaRPr lang="en-US" sz="8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850" dirty="0">
                <a:solidFill>
                  <a:srgbClr val="151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the source of the buyer id moved: browser UUID → session claim</a:t>
            </a:r>
            <a:endParaRPr lang="en-US" sz="8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850" dirty="0">
                <a:solidFill>
                  <a:srgbClr val="151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Bids now follow the user across sign-out, sign-in and devices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5257800" y="2834640"/>
            <a:ext cx="3337560" cy="1691640"/>
          </a:xfrm>
          <a:prstGeom prst="rect">
            <a:avLst/>
          </a:prstGeom>
          <a:solidFill>
            <a:srgbClr val="FDF1DC"/>
          </a:solidFill>
          <a:ln w="12700">
            <a:solidFill>
              <a:srgbClr val="FDF1D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413248" y="2907792"/>
            <a:ext cx="3063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A5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Prototype-only, and known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5413248" y="3163824"/>
            <a:ext cx="3063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850" dirty="0">
                <a:solidFill>
                  <a:srgbClr val="151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seeded demo users (alice / bob / carol, demo123); passwords plain in the seed file, hashed at load</a:t>
            </a:r>
            <a:endParaRPr lang="en-US" sz="8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850" dirty="0">
                <a:solidFill>
                  <a:srgbClr val="151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In-memory users; no registration, lockout, MFA or rate limit</a:t>
            </a:r>
            <a:endParaRPr lang="en-US" sz="8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850" dirty="0">
                <a:solidFill>
                  <a:srgbClr val="151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shape: hash at registration, store hashes in a DB, or delegate to an OIDC provider</a:t>
            </a:r>
            <a:endParaRPr lang="en-US" sz="8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850" dirty="0">
                <a:solidFill>
                  <a:srgbClr val="151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Mobile: cookies work natively; add a bearer scheme alongside for a second web origin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1F4F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SEQUENCE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5191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Seven reviewable steps, one commit each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475488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3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Block · buyer-side auction prototype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868680" y="1828800"/>
            <a:ext cx="6967728" cy="0"/>
          </a:xfrm>
          <a:prstGeom prst="line">
            <a:avLst/>
          </a:prstGeom>
          <a:noFill/>
          <a:ln w="25400">
            <a:solidFill>
              <a:srgbClr val="DFE3E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94360" y="1554480"/>
            <a:ext cx="548640" cy="548640"/>
          </a:xfrm>
          <a:prstGeom prst="ellipse">
            <a:avLst/>
          </a:prstGeom>
          <a:solidFill>
            <a:srgbClr val="1F4FD8"/>
          </a:solidFill>
          <a:ln w="12700">
            <a:solidFill>
              <a:srgbClr val="1F4FD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15544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48640" y="224028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1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Scaffold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48640" y="251460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 + API + proxy + root npm run dev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548640" y="3337560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9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0e842ad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1755648" y="1554480"/>
            <a:ext cx="548640" cy="548640"/>
          </a:xfrm>
          <a:prstGeom prst="ellipse">
            <a:avLst/>
          </a:prstGeom>
          <a:solidFill>
            <a:srgbClr val="1F4FD8"/>
          </a:solidFill>
          <a:ln w="12700">
            <a:solidFill>
              <a:srgbClr val="1F4FD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755648" y="15544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709928" y="224028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1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layer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709928" y="251460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JSON load, auction clock, list/detail API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1709928" y="3337560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9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ed66c66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2916936" y="1554480"/>
            <a:ext cx="548640" cy="548640"/>
          </a:xfrm>
          <a:prstGeom prst="ellipse">
            <a:avLst/>
          </a:prstGeom>
          <a:solidFill>
            <a:srgbClr val="1F4FD8"/>
          </a:solidFill>
          <a:ln w="12700">
            <a:solidFill>
              <a:srgbClr val="1F4FD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916936" y="15544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2871216" y="224028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1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2871216" y="251460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Search, facets, sort, paging, URL state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2871216" y="3337560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9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8920a69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4078224" y="1554480"/>
            <a:ext cx="548640" cy="548640"/>
          </a:xfrm>
          <a:prstGeom prst="ellipse">
            <a:avLst/>
          </a:prstGeom>
          <a:solidFill>
            <a:srgbClr val="1F4FD8"/>
          </a:solidFill>
          <a:ln w="12700">
            <a:solidFill>
              <a:srgbClr val="1F4FD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078224" y="15544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4032504" y="224028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1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Bid rules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4032504" y="251460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Increments, validation, lock, 409 contract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4032504" y="3337560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9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e3545ce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5239512" y="1554480"/>
            <a:ext cx="548640" cy="548640"/>
          </a:xfrm>
          <a:prstGeom prst="ellipse">
            <a:avLst/>
          </a:prstGeom>
          <a:solidFill>
            <a:srgbClr val="1F4FD8"/>
          </a:solidFill>
          <a:ln w="12700">
            <a:solidFill>
              <a:srgbClr val="1F4FD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239512" y="15544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5193792" y="224028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1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Detail + bids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5193792" y="251460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Gallery, condition, bid panel, mobile sheet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5193792" y="3337560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9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1906130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6400800" y="1554480"/>
            <a:ext cx="548640" cy="548640"/>
          </a:xfrm>
          <a:prstGeom prst="ellipse">
            <a:avLst/>
          </a:prstGeom>
          <a:solidFill>
            <a:srgbClr val="1F4FD8"/>
          </a:solidFill>
          <a:ln w="12700">
            <a:solidFill>
              <a:srgbClr val="1F4FD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00800" y="15544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6355080" y="224028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1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Polish + docs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6355080" y="251460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README, handoff, price + top-5 filters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6355080" y="3337560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9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1f6fdeb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7562088" y="1554480"/>
            <a:ext cx="548640" cy="548640"/>
          </a:xfrm>
          <a:prstGeom prst="ellipse">
            <a:avLst/>
          </a:prstGeom>
          <a:solidFill>
            <a:srgbClr val="DFE3E8"/>
          </a:solidFill>
          <a:ln w="12700">
            <a:solidFill>
              <a:srgbClr val="1F4FD8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562088" y="15544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600" dirty="0"/>
          </a:p>
        </p:txBody>
      </p:sp>
      <p:sp>
        <p:nvSpPr>
          <p:cNvPr id="38" name="Text 36"/>
          <p:cNvSpPr/>
          <p:nvPr/>
        </p:nvSpPr>
        <p:spPr>
          <a:xfrm>
            <a:off x="7516368" y="224028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1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Accounts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7516368" y="251460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Cookie auth, seeded users, My Bids</a:t>
            </a:r>
            <a:endParaRPr lang="en-US" sz="950" dirty="0"/>
          </a:p>
        </p:txBody>
      </p:sp>
      <p:sp>
        <p:nvSpPr>
          <p:cNvPr id="40" name="Text 38"/>
          <p:cNvSpPr/>
          <p:nvPr/>
        </p:nvSpPr>
        <p:spPr>
          <a:xfrm>
            <a:off x="7516368" y="3337560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9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548640" y="3840480"/>
            <a:ext cx="8046720" cy="640080"/>
          </a:xfrm>
          <a:prstGeom prst="rect">
            <a:avLst/>
          </a:prstGeom>
          <a:solidFill>
            <a:srgbClr val="E7EDFC"/>
          </a:solidFill>
          <a:ln w="12700">
            <a:solidFill>
              <a:srgbClr val="E7EDFC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31520" y="384048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51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agreement: </a:t>
            </a:r>
            <a:pPr indent="0" marL="0">
              <a:buNone/>
            </a:pPr>
            <a:r>
              <a:rPr lang="en-US" sz="105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first (docs/PLAN.md) → build a step → review it running in the browser and in the diff → commit → next step. Nothing lands unreviewed.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1F4F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JUDGMENT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5191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Decisions a reviewer will ask about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475488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3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Block · buyer-side auction prototype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48640" y="1280160"/>
            <a:ext cx="8046720" cy="585216"/>
          </a:xfrm>
          <a:prstGeom prst="rect">
            <a:avLst/>
          </a:prstGeom>
          <a:solidFill>
            <a:srgbClr val="FFFFFF"/>
          </a:solidFill>
          <a:ln w="9525">
            <a:solidFill>
              <a:srgbClr val="DFE3E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280160"/>
            <a:ext cx="64008" cy="585216"/>
          </a:xfrm>
          <a:prstGeom prst="rect">
            <a:avLst/>
          </a:prstGeom>
          <a:solidFill>
            <a:srgbClr val="1F4FD8"/>
          </a:solidFill>
          <a:ln w="12700">
            <a:solidFill>
              <a:srgbClr val="1F4FD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1280160"/>
            <a:ext cx="27432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51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although frontend-only was allowed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3566160" y="1280160"/>
            <a:ext cx="48920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Bid validation and concurrency are the only real domain logic. The server is authoritative; the client mirrors the rules for instant feedback.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548640" y="1956816"/>
            <a:ext cx="8046720" cy="585216"/>
          </a:xfrm>
          <a:prstGeom prst="rect">
            <a:avLst/>
          </a:prstGeom>
          <a:solidFill>
            <a:srgbClr val="FFFFFF"/>
          </a:solidFill>
          <a:ln w="9525">
            <a:solidFill>
              <a:srgbClr val="DFE3E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1956816"/>
            <a:ext cx="64008" cy="585216"/>
          </a:xfrm>
          <a:prstGeom prst="rect">
            <a:avLst/>
          </a:prstGeom>
          <a:solidFill>
            <a:srgbClr val="0F7B4F"/>
          </a:solidFill>
          <a:ln w="12700">
            <a:solidFill>
              <a:srgbClr val="0F7B4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49808" y="1956816"/>
            <a:ext cx="27432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51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normalised to [now−4d, now+3d], 72 h auctions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3566160" y="1956816"/>
            <a:ext cx="48920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 dates are a fixed week in April with no end time. Mapping yields ≈ 86 live / 88 upcoming / 26 ended that keep progressing.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548640" y="2633472"/>
            <a:ext cx="8046720" cy="585216"/>
          </a:xfrm>
          <a:prstGeom prst="rect">
            <a:avLst/>
          </a:prstGeom>
          <a:solidFill>
            <a:srgbClr val="FFFFFF"/>
          </a:solidFill>
          <a:ln w="9525">
            <a:solidFill>
              <a:srgbClr val="DFE3E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2633472"/>
            <a:ext cx="64008" cy="585216"/>
          </a:xfrm>
          <a:prstGeom prst="rect">
            <a:avLst/>
          </a:prstGeom>
          <a:solidFill>
            <a:srgbClr val="9A5B00"/>
          </a:solidFill>
          <a:ln w="12700">
            <a:solidFill>
              <a:srgbClr val="9A5B0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49808" y="2633472"/>
            <a:ext cx="27432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51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Seeded bids shown as one summary row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3566160" y="2633472"/>
            <a:ext cx="48920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data has a count and a high bid, not a history. We don't fabricate a timeline; bids placed via the API are recorded individually.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548640" y="3310128"/>
            <a:ext cx="8046720" cy="585216"/>
          </a:xfrm>
          <a:prstGeom prst="rect">
            <a:avLst/>
          </a:prstGeom>
          <a:solidFill>
            <a:srgbClr val="FFFFFF"/>
          </a:solidFill>
          <a:ln w="9525">
            <a:solidFill>
              <a:srgbClr val="DFE3E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48640" y="3310128"/>
            <a:ext cx="64008" cy="585216"/>
          </a:xfrm>
          <a:prstGeom prst="rect">
            <a:avLst/>
          </a:prstGeom>
          <a:solidFill>
            <a:srgbClr val="B42318"/>
          </a:solidFill>
          <a:ln w="12700">
            <a:solidFill>
              <a:srgbClr val="B4231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49808" y="3310128"/>
            <a:ext cx="27432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51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Reserve status and title warnings up front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3566160" y="3310128"/>
            <a:ext cx="48920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140/200 have a reserve, 64 already met; 30 are salvage or rebuilt. Both change what a buyer should pay, so they sit on every card.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548640" y="3986784"/>
            <a:ext cx="8046720" cy="585216"/>
          </a:xfrm>
          <a:prstGeom prst="rect">
            <a:avLst/>
          </a:prstGeom>
          <a:solidFill>
            <a:srgbClr val="FFFFFF"/>
          </a:solidFill>
          <a:ln w="9525">
            <a:solidFill>
              <a:srgbClr val="DFE3E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48640" y="3986784"/>
            <a:ext cx="64008" cy="585216"/>
          </a:xfrm>
          <a:prstGeom prst="rect">
            <a:avLst/>
          </a:prstGeom>
          <a:solidFill>
            <a:srgbClr val="1F4FD8"/>
          </a:solidFill>
          <a:ln w="12700">
            <a:solidFill>
              <a:srgbClr val="1F4FD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49808" y="3986784"/>
            <a:ext cx="27432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51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Anonymous buyer id first, cookie auth second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3566160" y="3986784"/>
            <a:ext cx="48920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Started with a per-browser UUID to ship the bid flow; swapped in cookie sessions + seeded users. Only the source of the buyer id changed — rules, ledger and lock did not.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1F4F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5191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Where it stands, and what comes next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475488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3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Block · buyer-side auction prototype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48640" y="1325880"/>
            <a:ext cx="2606040" cy="3154680"/>
          </a:xfrm>
          <a:prstGeom prst="rect">
            <a:avLst/>
          </a:prstGeom>
          <a:solidFill>
            <a:srgbClr val="FFFFFF"/>
          </a:solidFill>
          <a:ln w="9525">
            <a:solidFill>
              <a:srgbClr val="DFE3E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325880"/>
            <a:ext cx="64008" cy="3154680"/>
          </a:xfrm>
          <a:prstGeom prst="rect">
            <a:avLst/>
          </a:prstGeom>
          <a:solidFill>
            <a:srgbClr val="0F7B4F"/>
          </a:solidFill>
          <a:ln w="12700">
            <a:solidFill>
              <a:srgbClr val="0F7B4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1435608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51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Done and verified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749808" y="1737360"/>
            <a:ext cx="22860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minimum-bar items met</a:t>
            </a:r>
            <a:endParaRPr lang="en-US" sz="10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 xUnit + 13 Vitest tests passing</a:t>
            </a:r>
            <a:endParaRPr lang="en-US" sz="10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Fresh clone runs from the README</a:t>
            </a:r>
            <a:endParaRPr lang="en-US" sz="10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409 path exercised over HTTP</a:t>
            </a:r>
            <a:endParaRPr lang="en-US" sz="10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commits on main, tree clean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73552" y="1325880"/>
            <a:ext cx="2606040" cy="3154680"/>
          </a:xfrm>
          <a:prstGeom prst="rect">
            <a:avLst/>
          </a:prstGeom>
          <a:solidFill>
            <a:srgbClr val="FFFFFF"/>
          </a:solidFill>
          <a:ln w="9525">
            <a:solidFill>
              <a:srgbClr val="DFE3E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273552" y="1325880"/>
            <a:ext cx="64008" cy="3154680"/>
          </a:xfrm>
          <a:prstGeom prst="rect">
            <a:avLst/>
          </a:prstGeom>
          <a:solidFill>
            <a:srgbClr val="9A5B00"/>
          </a:solidFill>
          <a:ln w="12700">
            <a:solidFill>
              <a:srgbClr val="9A5B0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474720" y="1435608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51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before submitting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3474720" y="1737360"/>
            <a:ext cx="22860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 to the fork, send the link</a:t>
            </a:r>
            <a:endParaRPr lang="en-US" sz="10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the real 'Time spent' in README</a:t>
            </a:r>
            <a:endParaRPr lang="en-US" sz="10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the 'How I used AI' wording</a:t>
            </a:r>
            <a:endParaRPr lang="en-US" sz="10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 pass on a phone-sized viewport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998464" y="1325880"/>
            <a:ext cx="2606040" cy="3154680"/>
          </a:xfrm>
          <a:prstGeom prst="rect">
            <a:avLst/>
          </a:prstGeom>
          <a:solidFill>
            <a:srgbClr val="FFFFFF"/>
          </a:solidFill>
          <a:ln w="9525">
            <a:solidFill>
              <a:srgbClr val="DFE3E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998464" y="1325880"/>
            <a:ext cx="64008" cy="3154680"/>
          </a:xfrm>
          <a:prstGeom prst="rect">
            <a:avLst/>
          </a:prstGeom>
          <a:solidFill>
            <a:srgbClr val="1F4FD8"/>
          </a:solidFill>
          <a:ln w="12700">
            <a:solidFill>
              <a:srgbClr val="1F4FD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199632" y="1435608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51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Added: real users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6199632" y="1737360"/>
            <a:ext cx="22860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Cookie sessions (HttpOnly, same-origin via proxy)</a:t>
            </a:r>
            <a:endParaRPr lang="en-US" sz="10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Seeded demo accounts alice / bob / carol, hashed passwords</a:t>
            </a:r>
            <a:endParaRPr lang="en-US" sz="10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Bidding requires sign-in; browsing stays open</a:t>
            </a:r>
            <a:endParaRPr lang="en-US" sz="10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Bids page: outbid / leading / won / closed</a:t>
            </a:r>
            <a:endParaRPr lang="en-US" sz="10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Ledger, rules and lock unchanged — only where the buyer id comes from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Block — implementation overview</dc:title>
  <dc:subject>PptxGenJS Presentation</dc:subject>
  <dc:creator>PptxGenJS</dc:creator>
  <cp:lastModifiedBy>PptxGenJS</cp:lastModifiedBy>
  <cp:revision>1</cp:revision>
  <dcterms:created xsi:type="dcterms:W3CDTF">2026-09-17T23:56:06Z</dcterms:created>
  <dcterms:modified xsi:type="dcterms:W3CDTF">2026-09-17T23:56:06Z</dcterms:modified>
</cp:coreProperties>
</file>